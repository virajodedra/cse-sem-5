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530" r:id="rId5"/>
    <p:sldId id="531" r:id="rId6"/>
    <p:sldId id="533" r:id="rId7"/>
    <p:sldId id="534" r:id="rId8"/>
    <p:sldId id="538" r:id="rId9"/>
    <p:sldId id="547" r:id="rId10"/>
    <p:sldId id="548" r:id="rId11"/>
    <p:sldId id="549" r:id="rId12"/>
    <p:sldId id="550" r:id="rId13"/>
    <p:sldId id="551" r:id="rId14"/>
    <p:sldId id="54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22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Role of Data Science in Business Decision-Making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Viraj Odedra A.</a:t>
            </a:r>
          </a:p>
          <a:p>
            <a:r>
              <a:rPr lang="en-US" dirty="0"/>
              <a:t>23010101178</a:t>
            </a:r>
          </a:p>
          <a:p>
            <a:r>
              <a:rPr lang="en-US" dirty="0"/>
              <a:t>334</a:t>
            </a: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CONTENTS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762234" cy="3282696"/>
          </a:xfrm>
        </p:spPr>
        <p:txBody>
          <a:bodyPr/>
          <a:lstStyle/>
          <a:p>
            <a:pPr marL="342900" indent="-342900"/>
            <a:r>
              <a:rPr lang="en-US" dirty="0"/>
              <a:t>Introduction to Data Science in Business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/>
            <a:r>
              <a:rPr lang="en-IN" dirty="0"/>
              <a:t>What is Data Science?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/>
            <a:r>
              <a:rPr lang="en-IN" dirty="0"/>
              <a:t>Importance in Business Decision-Making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/>
            <a:r>
              <a:rPr lang="en-US" dirty="0"/>
              <a:t>Real-World Applications in Different Industries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/>
            <a:r>
              <a:rPr lang="en-IN" dirty="0"/>
              <a:t>Benefits &amp; Conclusion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0772" y="584823"/>
            <a:ext cx="7735824" cy="106984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6076" y="3862012"/>
            <a:ext cx="7735824" cy="1133856"/>
          </a:xfrm>
        </p:spPr>
        <p:txBody>
          <a:bodyPr/>
          <a:lstStyle/>
          <a:p>
            <a:r>
              <a:rPr lang="en-US" dirty="0"/>
              <a:t>Data Science is the process of turning data into insights that support business growth.</a:t>
            </a:r>
          </a:p>
          <a:p>
            <a:r>
              <a:rPr lang="en-US" dirty="0"/>
              <a:t>It helps managers take decisions based on facts instead of guesswork.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98930AE-BA59-7168-83D1-0B3B2821E197}"/>
              </a:ext>
            </a:extLst>
          </p:cNvPr>
          <p:cNvSpPr txBox="1">
            <a:spLocks/>
          </p:cNvSpPr>
          <p:nvPr/>
        </p:nvSpPr>
        <p:spPr>
          <a:xfrm>
            <a:off x="2557469" y="2097122"/>
            <a:ext cx="7735824" cy="11338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Every business generates a huge amount of data daily, like sales, customers.</a:t>
            </a:r>
          </a:p>
          <a:p>
            <a:r>
              <a:rPr lang="en-US" dirty="0"/>
              <a:t>Raw data is not useful until it is analyzed and converted into information.</a:t>
            </a: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What is Data Science?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mix of </a:t>
            </a:r>
            <a:r>
              <a:rPr lang="en-US" b="1" dirty="0"/>
              <a:t>statistics, computer skills, and business knowledge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691" y="348652"/>
            <a:ext cx="8878824" cy="1069848"/>
          </a:xfrm>
        </p:spPr>
        <p:txBody>
          <a:bodyPr/>
          <a:lstStyle/>
          <a:p>
            <a:r>
              <a:rPr lang="en-IN" dirty="0"/>
              <a:t>Data Science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837" y="709840"/>
            <a:ext cx="351602" cy="49377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2398" y="1868128"/>
            <a:ext cx="8787679" cy="3751744"/>
          </a:xfrm>
        </p:spPr>
        <p:txBody>
          <a:bodyPr/>
          <a:lstStyle/>
          <a:p>
            <a:r>
              <a:rPr lang="en-US" dirty="0"/>
              <a:t>It extracts patterns and hidden meanings from both numbers and unstructured data like text or images.</a:t>
            </a:r>
          </a:p>
          <a:p>
            <a:endParaRPr lang="en-US" dirty="0"/>
          </a:p>
          <a:p>
            <a:r>
              <a:rPr lang="en-US" dirty="0"/>
              <a:t>Focused on extracting patterns and insights from data.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Tools like data analysis, visualization, and machine learning make predictions possible.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goal is simple: to solve business problems using data-driven evidence.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makes decisions more reliable, smart, and future-focused.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826221" y="884166"/>
            <a:ext cx="377755" cy="3194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1420954" y="748923"/>
            <a:ext cx="554736" cy="30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Science.</a:t>
            </a:r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9EE65-9714-97C6-7921-68543B56F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C6111-E0AB-E596-D58D-8B145C07D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8968" y="3054096"/>
            <a:ext cx="9144000" cy="1069848"/>
          </a:xfrm>
        </p:spPr>
        <p:txBody>
          <a:bodyPr/>
          <a:lstStyle/>
          <a:p>
            <a:r>
              <a:rPr lang="en-IN" dirty="0"/>
              <a:t>Importance in Business Decision-Making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934DB-1C64-DEAB-53C4-54CE2B1717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1975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309EF-A820-29E8-A912-9903D653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4155F-E597-D43E-5EDE-20152D0A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57519"/>
            <a:ext cx="8878824" cy="1069848"/>
          </a:xfrm>
        </p:spPr>
        <p:txBody>
          <a:bodyPr/>
          <a:lstStyle/>
          <a:p>
            <a:r>
              <a:rPr lang="en-IN" dirty="0"/>
              <a:t>Importance 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C35229-DAEA-A98E-7231-2205672A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1AE4F-2060-1B51-2B84-FBF726191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837" y="709840"/>
            <a:ext cx="351602" cy="49377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1ECB9-5B78-E9A8-2847-877A1259C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2398" y="1278195"/>
            <a:ext cx="8787679" cy="4542502"/>
          </a:xfrm>
        </p:spPr>
        <p:txBody>
          <a:bodyPr/>
          <a:lstStyle/>
          <a:p>
            <a:r>
              <a:rPr lang="en-US" b="1" dirty="0"/>
              <a:t>Customer Understanding</a:t>
            </a:r>
            <a:r>
              <a:rPr lang="en-US" dirty="0"/>
              <a:t>: Helps identify customer needs and buying habits.</a:t>
            </a:r>
          </a:p>
          <a:p>
            <a:endParaRPr lang="en-US" dirty="0"/>
          </a:p>
          <a:p>
            <a:r>
              <a:rPr lang="en-US" b="1" dirty="0"/>
              <a:t>Accurate Decisions</a:t>
            </a:r>
            <a:r>
              <a:rPr lang="en-US" dirty="0"/>
              <a:t>: Managers can decide confidently with data support.</a:t>
            </a:r>
          </a:p>
          <a:p>
            <a:endParaRPr lang="en-US" dirty="0"/>
          </a:p>
          <a:p>
            <a:r>
              <a:rPr lang="en-US" b="1" dirty="0"/>
              <a:t>Risk Reduction</a:t>
            </a:r>
            <a:r>
              <a:rPr lang="en-US" dirty="0"/>
              <a:t>: Predicts possible risks and prepares solutions in advance.</a:t>
            </a:r>
          </a:p>
          <a:p>
            <a:endParaRPr lang="en-US" dirty="0"/>
          </a:p>
          <a:p>
            <a:r>
              <a:rPr lang="en-US" b="1" dirty="0"/>
              <a:t>Operational Efficiency</a:t>
            </a:r>
            <a:r>
              <a:rPr lang="en-US" dirty="0"/>
              <a:t>: Optimizes resources and saves time and money.</a:t>
            </a:r>
          </a:p>
          <a:p>
            <a:endParaRPr lang="en-US" dirty="0"/>
          </a:p>
          <a:p>
            <a:r>
              <a:rPr lang="en-US" b="1" dirty="0"/>
              <a:t>Competitive Advantage</a:t>
            </a:r>
            <a:r>
              <a:rPr lang="en-US" dirty="0"/>
              <a:t>: Businesses using data stay ahead of those who don’t.</a:t>
            </a:r>
          </a:p>
          <a:p>
            <a:endParaRPr lang="en-US" dirty="0"/>
          </a:p>
          <a:p>
            <a:r>
              <a:rPr lang="en-US" b="1" dirty="0"/>
              <a:t>Strategic Planning</a:t>
            </a:r>
            <a:r>
              <a:rPr lang="en-US" dirty="0"/>
              <a:t>: Supports both short-term and long-term strategies.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5293C3-4B44-7054-3B45-3AA5D44AE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826221" y="884166"/>
            <a:ext cx="377755" cy="3194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5AAE0-09E1-8DBC-3806-D93FFCC98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1420954" y="748923"/>
            <a:ext cx="554736" cy="30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ADB5A2-D98F-877D-9B0A-CCBCABFAA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3004443" cy="310896"/>
          </a:xfrm>
        </p:spPr>
        <p:txBody>
          <a:bodyPr/>
          <a:lstStyle/>
          <a:p>
            <a:r>
              <a:rPr lang="en-IN" dirty="0"/>
              <a:t>Importance in Business Decision-Making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50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679FA-32EA-9DFF-1B0B-682D7C2F1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21DCE-D5FB-650B-BEA6-03523B17F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8968" y="3054096"/>
            <a:ext cx="9144000" cy="1069848"/>
          </a:xfrm>
        </p:spPr>
        <p:txBody>
          <a:bodyPr/>
          <a:lstStyle/>
          <a:p>
            <a:r>
              <a:rPr lang="en-IN" dirty="0"/>
              <a:t>Real-World Business Applications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6AB1E-7DF2-0875-DB6B-790C3C4B77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7605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E17C8-403B-F813-150C-A77D88A4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909D-EE98-3196-1F79-809B003B9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57519"/>
            <a:ext cx="8878824" cy="1069848"/>
          </a:xfrm>
        </p:spPr>
        <p:txBody>
          <a:bodyPr/>
          <a:lstStyle/>
          <a:p>
            <a:r>
              <a:rPr lang="en-IN" dirty="0"/>
              <a:t>Applications 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1853F0-AC43-FAD3-2AB5-17D9E48A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D08C6-4C47-AAF0-3CDE-36DF4063D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837" y="709840"/>
            <a:ext cx="351602" cy="49377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5BDED-14D0-1FEC-2BC5-055BC4265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2398" y="1278195"/>
            <a:ext cx="8787679" cy="4542502"/>
          </a:xfrm>
        </p:spPr>
        <p:txBody>
          <a:bodyPr/>
          <a:lstStyle/>
          <a:p>
            <a:r>
              <a:rPr lang="en-US" b="1" dirty="0"/>
              <a:t>Retail:</a:t>
            </a:r>
            <a:r>
              <a:rPr lang="en-US" dirty="0"/>
              <a:t> Companies like Amazon use data to recommend products.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Banking:</a:t>
            </a:r>
            <a:r>
              <a:rPr lang="en-US" dirty="0"/>
              <a:t> Detects fraud and decides who is eligible for loans.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Healthcare:</a:t>
            </a:r>
            <a:r>
              <a:rPr lang="en-US" dirty="0"/>
              <a:t> Predicts diseases and personalizes treatments.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Marketing:</a:t>
            </a:r>
            <a:r>
              <a:rPr lang="en-US" dirty="0"/>
              <a:t> Creates targeted ads for the right audience.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Logistics:</a:t>
            </a:r>
            <a:r>
              <a:rPr lang="en-US" dirty="0"/>
              <a:t> Optimizes delivery routes to save fuel and time.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Human Resources:</a:t>
            </a:r>
            <a:r>
              <a:rPr lang="en-US" dirty="0"/>
              <a:t> Finds the best talent using data analysis.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196CFF-DBA8-D0E7-4FF7-401374A63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826221" y="884166"/>
            <a:ext cx="377755" cy="3194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59CF9C-DB80-088E-8603-4B8AFE4EF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1420954" y="748923"/>
            <a:ext cx="554736" cy="30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8D67A48-873F-AD25-D40B-CC6A8261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3004443" cy="310896"/>
          </a:xfrm>
        </p:spPr>
        <p:txBody>
          <a:bodyPr/>
          <a:lstStyle/>
          <a:p>
            <a:r>
              <a:rPr lang="en-IN" dirty="0"/>
              <a:t>Real-World Business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42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B25C8-6AAD-6D75-D653-CD1B84A33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2D21E-AC58-121A-3934-18148C91B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57519"/>
            <a:ext cx="8878824" cy="1069848"/>
          </a:xfrm>
        </p:spPr>
        <p:txBody>
          <a:bodyPr/>
          <a:lstStyle/>
          <a:p>
            <a:r>
              <a:rPr lang="en-IN" dirty="0"/>
              <a:t>Benefits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76D1081-6598-E512-AB60-D4C324DFE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F7134-DD99-935C-750A-132AD3212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8837" y="709840"/>
            <a:ext cx="351602" cy="49377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24612-FF85-EFA2-ED12-1112B555A8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3960" y="1175029"/>
            <a:ext cx="9623420" cy="1710468"/>
          </a:xfrm>
        </p:spPr>
        <p:txBody>
          <a:bodyPr/>
          <a:lstStyle/>
          <a:p>
            <a:r>
              <a:rPr lang="en-US" b="1" dirty="0"/>
              <a:t>Faster &amp; Smarter Decisions</a:t>
            </a:r>
            <a:r>
              <a:rPr lang="en-US" dirty="0"/>
              <a:t>: Businesses act quickly with clear insights.</a:t>
            </a:r>
          </a:p>
          <a:p>
            <a:r>
              <a:rPr lang="en-US" b="1" dirty="0"/>
              <a:t>Cost Savings</a:t>
            </a:r>
            <a:r>
              <a:rPr lang="en-US" dirty="0"/>
              <a:t>: Data reduces errors and cuts unnecessary spending.</a:t>
            </a:r>
          </a:p>
          <a:p>
            <a:r>
              <a:rPr lang="en-US" b="1" dirty="0"/>
              <a:t>Customer Satisfaction</a:t>
            </a:r>
            <a:r>
              <a:rPr lang="en-US" dirty="0"/>
              <a:t>: Better services keep customers loyal.</a:t>
            </a:r>
          </a:p>
          <a:p>
            <a:r>
              <a:rPr lang="en-US" b="1" dirty="0"/>
              <a:t>Growth &amp; Innovation</a:t>
            </a:r>
            <a:r>
              <a:rPr lang="en-US" dirty="0"/>
              <a:t>: Opens doors to new ideas and markets.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399A9-EA58-3380-B21C-E5961A282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826221" y="884166"/>
            <a:ext cx="377755" cy="3194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967657-B14C-A0D3-EAFB-E59170524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1420954" y="748923"/>
            <a:ext cx="554736" cy="30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1A81E4-A004-B066-2664-9ABC46C67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3004443" cy="310896"/>
          </a:xfrm>
        </p:spPr>
        <p:txBody>
          <a:bodyPr/>
          <a:lstStyle/>
          <a:p>
            <a:r>
              <a:rPr lang="en-IN" dirty="0"/>
              <a:t>Benefits 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4826D1-D3C5-7DEE-517F-1B8B60A918FB}"/>
              </a:ext>
            </a:extLst>
          </p:cNvPr>
          <p:cNvSpPr txBox="1">
            <a:spLocks/>
          </p:cNvSpPr>
          <p:nvPr/>
        </p:nvSpPr>
        <p:spPr>
          <a:xfrm>
            <a:off x="850392" y="3124003"/>
            <a:ext cx="8878824" cy="10698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Conclusion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F3D0C80-CD46-2680-614E-ABDBBFBE1345}"/>
              </a:ext>
            </a:extLst>
          </p:cNvPr>
          <p:cNvSpPr txBox="1">
            <a:spLocks/>
          </p:cNvSpPr>
          <p:nvPr/>
        </p:nvSpPr>
        <p:spPr>
          <a:xfrm>
            <a:off x="1543960" y="4286865"/>
            <a:ext cx="9623420" cy="18612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is very important for every business today.</a:t>
            </a:r>
          </a:p>
          <a:p>
            <a:r>
              <a:rPr lang="en-US" dirty="0"/>
              <a:t>Data Science helps change raw data into useful information.</a:t>
            </a:r>
          </a:p>
          <a:p>
            <a:r>
              <a:rPr lang="en-US" dirty="0"/>
              <a:t>It allows managers to take decisions based on facts, not just guesses.</a:t>
            </a:r>
          </a:p>
          <a:p>
            <a:r>
              <a:rPr lang="en-US" dirty="0"/>
              <a:t>In the future, companies that don’t use data may struggle to survive.</a:t>
            </a:r>
          </a:p>
        </p:txBody>
      </p:sp>
    </p:spTree>
    <p:extLst>
      <p:ext uri="{BB962C8B-B14F-4D97-AF65-F5344CB8AC3E}">
        <p14:creationId xmlns:p14="http://schemas.microsoft.com/office/powerpoint/2010/main" val="1346188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 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Viraj Odedra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1A0858-5EA1-FF9B-1DAF-FBC328F611D6}"/>
              </a:ext>
            </a:extLst>
          </p:cNvPr>
          <p:cNvSpPr txBox="1"/>
          <p:nvPr/>
        </p:nvSpPr>
        <p:spPr>
          <a:xfrm>
            <a:off x="226143" y="5842279"/>
            <a:ext cx="5732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Science truly shapes the future of business decisions.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36D40D-7F77-C90D-C576-CAE6ED57F397}"/>
              </a:ext>
            </a:extLst>
          </p:cNvPr>
          <p:cNvSpPr txBox="1"/>
          <p:nvPr/>
        </p:nvSpPr>
        <p:spPr>
          <a:xfrm>
            <a:off x="226142" y="1255128"/>
            <a:ext cx="42082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“ So we can see that Data Science is not just a trend - it is the backbone of modern business decisions.”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178</TotalTime>
  <Words>478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Segoe UI Light</vt:lpstr>
      <vt:lpstr>Tw Cen MT</vt:lpstr>
      <vt:lpstr>Office Theme</vt:lpstr>
      <vt:lpstr>Role of Data Science in Business Decision-Making</vt:lpstr>
      <vt:lpstr>CONTENTS</vt:lpstr>
      <vt:lpstr>INTRODUCTION</vt:lpstr>
      <vt:lpstr>What is Data Science?</vt:lpstr>
      <vt:lpstr>Data Science</vt:lpstr>
      <vt:lpstr>Importance in Business Decision-Making</vt:lpstr>
      <vt:lpstr>Importance </vt:lpstr>
      <vt:lpstr>Real-World Business Applications</vt:lpstr>
      <vt:lpstr>Applications </vt:lpstr>
      <vt:lpstr>Benefits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Viraj Odedra</dc:creator>
  <cp:lastModifiedBy>Viraj Odedra</cp:lastModifiedBy>
  <cp:revision>5</cp:revision>
  <dcterms:created xsi:type="dcterms:W3CDTF">2025-09-06T13:42:27Z</dcterms:created>
  <dcterms:modified xsi:type="dcterms:W3CDTF">2025-09-16T13:28:17Z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